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5943600" cy="5943600"/>
          </a:xfrm>
          <a:prstGeom prst="ellipse">
            <a:avLst/>
          </a:prstGeom>
          <a:solidFill>
            <a:srgbClr val="16233D"/>
          </a:solidFill>
          <a:ln w="12700">
            <a:solidFill>
              <a:srgbClr val="1623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-1005840"/>
            <a:ext cx="3931920" cy="3931920"/>
          </a:xfrm>
          <a:prstGeom prst="ellipse">
            <a:avLst/>
          </a:prstGeom>
          <a:solidFill>
            <a:srgbClr val="111C33"/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45720"/>
            <a:ext cx="1051560" cy="10515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9997" y="248717"/>
            <a:ext cx="462686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9601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D2E4E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HEALTHCARE  •  REVIEW DEMO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173736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CareSync</a:t>
            </a:r>
            <a:endParaRPr lang="en-US" sz="66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Hospital Queue &amp; Management System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841248" y="3520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physical waiting lines with an AI chatbot, real-time token queues,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connected doctor–lab–pharmacy digital ecosystem.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470916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48280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069848" y="535838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waiting-room crowding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51960" y="470916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0560" y="48280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498848" y="535838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role portals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680960" y="470916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09560" y="48280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24×7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927848" y="535838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booking &amp; live status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for departmental review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Hospitals still run on physical queues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OPD visit today means standing in line, no idea when your turn comes, and staff drowning in manual token registers.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95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276856"/>
            <a:ext cx="566928" cy="566928"/>
          </a:xfrm>
          <a:prstGeom prst="ellipse">
            <a:avLst/>
          </a:prstGeom>
          <a:solidFill>
            <a:srgbClr val="FEE2E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836" y="243559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95144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waiting rooms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84" y="2953512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arrive early and wait hours in packed halls — a real infection &amp; safety risk.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61104" y="2057400"/>
            <a:ext cx="35295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2276856"/>
            <a:ext cx="566928" cy="566928"/>
          </a:xfrm>
          <a:prstGeom prst="ellipse">
            <a:avLst/>
          </a:prstGeom>
          <a:solidFill>
            <a:srgbClr val="FEE2E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300" y="2435596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2295144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visibility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98848" y="2953512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how many are ahead or the real wait, so people cannot step out or plan.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73568" y="2057400"/>
            <a:ext cx="35295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93024" y="2276856"/>
            <a:ext cx="566928" cy="566928"/>
          </a:xfrm>
          <a:prstGeom prst="ellipse">
            <a:avLst/>
          </a:prstGeom>
          <a:solidFill>
            <a:srgbClr val="FEE2E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764" y="2435596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87968" y="2295144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token chaos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11312" y="2953512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slips &amp; registers cause lost tokens, arguments over "who is next", and errors.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050792"/>
            <a:ext cx="35295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8096" y="4270248"/>
            <a:ext cx="566928" cy="566928"/>
          </a:xfrm>
          <a:prstGeom prst="ellipse">
            <a:avLst/>
          </a:prstGeom>
          <a:solidFill>
            <a:srgbClr val="FEE2E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836" y="4428988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4288536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 get stuck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86384" y="4946904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patients wait in the same line as routine check-ups — no fast priority path.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61104" y="4050792"/>
            <a:ext cx="35295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0560" y="4270248"/>
            <a:ext cx="566928" cy="566928"/>
          </a:xfrm>
          <a:prstGeom prst="ellipse">
            <a:avLst/>
          </a:prstGeom>
          <a:solidFill>
            <a:srgbClr val="FEE2E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300" y="4428988"/>
            <a:ext cx="249448" cy="2494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75504" y="4288536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lose control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498848" y="4946904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pause, add a delay, or see patient symptoms before the patient walks in.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973568" y="4050792"/>
            <a:ext cx="35295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93024" y="4270248"/>
            <a:ext cx="566928" cy="566928"/>
          </a:xfrm>
          <a:prstGeom prst="ellipse">
            <a:avLst/>
          </a:prstGeom>
          <a:solidFill>
            <a:srgbClr val="FEE2E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1764" y="4428988"/>
            <a:ext cx="249448" cy="2494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87968" y="4288536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departments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211312" y="4946904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Lab, pharmacy and reception work on islands — reports and prescriptions travel on paper.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 — book from your phone, wait from anywhere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 replaces the physical line with a live digital token. Patients chat to book, track their turn in real time, and only walk in when it is nearly their turn.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79192" cy="3017520"/>
          </a:xfrm>
          <a:prstGeom prst="roundRect">
            <a:avLst>
              <a:gd name="adj" fmla="val 3413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532888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750515"/>
            <a:ext cx="341986" cy="341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47472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booking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4069080"/>
            <a:ext cx="2221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chatbot registers the patient and issues a token — on web or WhatsApp, 24×7.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0904" y="2496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D2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01568" y="2240280"/>
            <a:ext cx="2679192" cy="3017520"/>
          </a:xfrm>
          <a:prstGeom prst="roundRect">
            <a:avLst>
              <a:gd name="adj" fmla="val 3413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0" y="2532888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227" y="2750515"/>
            <a:ext cx="341986" cy="3419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347472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 tracking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57600" y="4069080"/>
            <a:ext cx="2221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position &amp; estimated wait, pushed instantly to every phone and screen.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513832" y="2496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D2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254496" y="2240280"/>
            <a:ext cx="2679192" cy="3017520"/>
          </a:xfrm>
          <a:prstGeom prst="roundRect">
            <a:avLst>
              <a:gd name="adj" fmla="val 3413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10528" y="2532888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155" y="2750515"/>
            <a:ext cx="341986" cy="34198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10528" y="347472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priority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510528" y="4069080"/>
            <a:ext cx="2221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tokens jump to the front automatically, without disturbing the patient in the cabin.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366760" y="2496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D2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9107424" y="2240280"/>
            <a:ext cx="2679192" cy="3017520"/>
          </a:xfrm>
          <a:prstGeom prst="roundRect">
            <a:avLst>
              <a:gd name="adj" fmla="val 3413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63456" y="2532888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1083" y="2750515"/>
            <a:ext cx="341986" cy="34198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63456" y="347472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departments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363456" y="4069080"/>
            <a:ext cx="2221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Doctor, reception, lab and pharmacy share one live record — no paper hand-offs.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1219688" y="2496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D2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patient journey — from "Hi" to done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03120" cy="26060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240280"/>
            <a:ext cx="822960" cy="82296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149" y="247070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154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&amp; book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" y="372160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opens the chat (web / WhatsApp) and answers a few guided questions.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56332" y="3168396"/>
            <a:ext cx="164592" cy="201168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11" name="Shape 8"/>
          <p:cNvSpPr/>
          <p:nvPr/>
        </p:nvSpPr>
        <p:spPr>
          <a:xfrm>
            <a:off x="2825496" y="1965960"/>
            <a:ext cx="2103120" cy="26060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65576" y="2240280"/>
            <a:ext cx="822960" cy="82296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005" y="2470709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25496" y="3154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916936" y="3383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token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971800" y="372160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token is issued instantly with symptoms captured for the doctor.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933188" y="3168396"/>
            <a:ext cx="164592" cy="201168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18" name="Shape 14"/>
          <p:cNvSpPr/>
          <p:nvPr/>
        </p:nvSpPr>
        <p:spPr>
          <a:xfrm>
            <a:off x="5102352" y="1965960"/>
            <a:ext cx="2103120" cy="26060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42432" y="2240280"/>
            <a:ext cx="822960" cy="82296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861" y="2470709"/>
            <a:ext cx="362102" cy="3621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02352" y="3154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193792" y="3383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live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248656" y="372160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"3 ahead • ~30 min" updates; a push alert fires when the turn is near.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210044" y="3168396"/>
            <a:ext cx="164592" cy="201168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25" name="Shape 20"/>
          <p:cNvSpPr/>
          <p:nvPr/>
        </p:nvSpPr>
        <p:spPr>
          <a:xfrm>
            <a:off x="7379208" y="1965960"/>
            <a:ext cx="2103120" cy="26060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19288" y="2240280"/>
            <a:ext cx="822960" cy="82296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717" y="2470709"/>
            <a:ext cx="362102" cy="36210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79208" y="3154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7470648" y="3383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visit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525512" y="372160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sees chat history, examines, and can order a lab test in one click.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9486900" y="3168396"/>
            <a:ext cx="164592" cy="201168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32" name="Shape 26"/>
          <p:cNvSpPr/>
          <p:nvPr/>
        </p:nvSpPr>
        <p:spPr>
          <a:xfrm>
            <a:off x="9656064" y="1965960"/>
            <a:ext cx="2103120" cy="26060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296144" y="2240280"/>
            <a:ext cx="822960" cy="822960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573" y="2470709"/>
            <a:ext cx="362102" cy="36210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56064" y="3154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9747504" y="3383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pharmacy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9802368" y="372160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prescription flows to the pharmacy; medicines dispensed &amp; marked done.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/>
        </p:spPr>
      </p:sp>
      <p:sp>
        <p:nvSpPr>
          <p:cNvPr id="39" name="Text 32"/>
          <p:cNvSpPr/>
          <p:nvPr/>
        </p:nvSpPr>
        <p:spPr>
          <a:xfrm>
            <a:off x="868680" y="50292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standing in line.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waits at home, at work, or in the canteen — and the phone tells them exactly when to walk in.</a:t>
            </a:r>
            <a:endParaRPr lang="en-US" sz="1500" dirty="0"/>
          </a:p>
        </p:txBody>
      </p:sp>
      <p:sp>
        <p:nvSpPr>
          <p:cNvPr id="40" name="Text 3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architecture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3099816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624328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75234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5968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chat (web + WhatsApp)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3296412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42442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2689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console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3968496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09651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94106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/ reception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2960" y="4640580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76859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6131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Pharmacy portals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22960" y="5312664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44068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52852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TV display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334256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590288" y="1947672"/>
            <a:ext cx="3099816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24" name="Text 17"/>
          <p:cNvSpPr/>
          <p:nvPr/>
        </p:nvSpPr>
        <p:spPr>
          <a:xfrm>
            <a:off x="4590288" y="194767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608576" y="2624328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2752344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02936" y="25968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role guards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4608576" y="3296412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3424428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202936" y="32689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state engine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4608576" y="3968496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592" y="4096512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202936" y="394106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queue controllers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4608576" y="4640580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592" y="4768596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202936" y="46131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real-time server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4608576" y="5312664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6592" y="5440680"/>
            <a:ext cx="201168" cy="20116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202936" y="52852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Cron: reset &amp; reminders</a:t>
            </a:r>
            <a:endParaRPr lang="en-US" sz="1150" dirty="0"/>
          </a:p>
        </p:txBody>
      </p:sp>
      <p:sp>
        <p:nvSpPr>
          <p:cNvPr id="40" name="Shape 28"/>
          <p:cNvSpPr/>
          <p:nvPr/>
        </p:nvSpPr>
        <p:spPr>
          <a:xfrm>
            <a:off x="8119872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8375904" y="1947672"/>
            <a:ext cx="3099816" cy="457200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/>
        </p:spPr>
      </p:sp>
      <p:sp>
        <p:nvSpPr>
          <p:cNvPr id="42" name="Text 30"/>
          <p:cNvSpPr/>
          <p:nvPr/>
        </p:nvSpPr>
        <p:spPr>
          <a:xfrm>
            <a:off x="8375904" y="194767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INTEGRATIONS</a:t>
            </a:r>
            <a:endParaRPr lang="en-US" sz="1250" dirty="0"/>
          </a:p>
        </p:txBody>
      </p:sp>
      <p:sp>
        <p:nvSpPr>
          <p:cNvPr id="43" name="Shape 31"/>
          <p:cNvSpPr/>
          <p:nvPr/>
        </p:nvSpPr>
        <p:spPr>
          <a:xfrm>
            <a:off x="8394192" y="2624328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2208" y="2752344"/>
            <a:ext cx="201168" cy="201168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8988552" y="25968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(Mongoose models)</a:t>
            </a:r>
            <a:endParaRPr lang="en-US" sz="1150" dirty="0"/>
          </a:p>
        </p:txBody>
      </p:sp>
      <p:sp>
        <p:nvSpPr>
          <p:cNvPr id="46" name="Shape 33"/>
          <p:cNvSpPr/>
          <p:nvPr/>
        </p:nvSpPr>
        <p:spPr>
          <a:xfrm>
            <a:off x="8394192" y="3296412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2208" y="3424428"/>
            <a:ext cx="201168" cy="201168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8988552" y="32689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150" dirty="0"/>
          </a:p>
        </p:txBody>
      </p:sp>
      <p:sp>
        <p:nvSpPr>
          <p:cNvPr id="49" name="Shape 35"/>
          <p:cNvSpPr/>
          <p:nvPr/>
        </p:nvSpPr>
        <p:spPr>
          <a:xfrm>
            <a:off x="8394192" y="3968496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2208" y="4096512"/>
            <a:ext cx="201168" cy="201168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8988552" y="394106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Web-Push (VAPID)</a:t>
            </a:r>
            <a:endParaRPr lang="en-US" sz="1150" dirty="0"/>
          </a:p>
        </p:txBody>
      </p:sp>
      <p:sp>
        <p:nvSpPr>
          <p:cNvPr id="52" name="Shape 37"/>
          <p:cNvSpPr/>
          <p:nvPr/>
        </p:nvSpPr>
        <p:spPr>
          <a:xfrm>
            <a:off x="8394192" y="4640580"/>
            <a:ext cx="457200" cy="457200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22208" y="4768596"/>
            <a:ext cx="201168" cy="201168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8988552" y="46131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Multi-facility tenant data</a:t>
            </a:r>
            <a:endParaRPr lang="en-US" sz="1150" dirty="0"/>
          </a:p>
        </p:txBody>
      </p:sp>
      <p:sp>
        <p:nvSpPr>
          <p:cNvPr id="55" name="Shape 39"/>
          <p:cNvSpPr/>
          <p:nvPr/>
        </p:nvSpPr>
        <p:spPr>
          <a:xfrm>
            <a:off x="4169664" y="3909060"/>
            <a:ext cx="155448" cy="0"/>
          </a:xfrm>
          <a:prstGeom prst="line">
            <a:avLst/>
          </a:prstGeom>
          <a:noFill/>
          <a:ln w="19050">
            <a:solidFill>
              <a:srgbClr val="93A3BC"/>
            </a:solidFill>
            <a:prstDash val="solid"/>
            <a:headEnd type="triangle"/>
            <a:tailEnd type="triangle"/>
          </a:ln>
        </p:spPr>
      </p:sp>
      <p:sp>
        <p:nvSpPr>
          <p:cNvPr id="56" name="Shape 40"/>
          <p:cNvSpPr/>
          <p:nvPr/>
        </p:nvSpPr>
        <p:spPr>
          <a:xfrm>
            <a:off x="7955280" y="3909060"/>
            <a:ext cx="155448" cy="0"/>
          </a:xfrm>
          <a:prstGeom prst="line">
            <a:avLst/>
          </a:prstGeom>
          <a:noFill/>
          <a:ln w="19050">
            <a:solidFill>
              <a:srgbClr val="93A3BC"/>
            </a:solidFill>
            <a:prstDash val="solid"/>
            <a:headEnd type="triangle"/>
            <a:tailEnd type="triangle"/>
          </a:ln>
        </p:spPr>
      </p:sp>
      <p:sp>
        <p:nvSpPr>
          <p:cNvPr id="57" name="Text 41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rooms keep every dashboard and every patient phone in sync the instant a queue changes — no page refresh, ever.</a:t>
            </a:r>
            <a:endParaRPr lang="en-US" sz="1200" dirty="0"/>
          </a:p>
        </p:txBody>
      </p:sp>
      <p:sp>
        <p:nvSpPr>
          <p:cNvPr id="58" name="Text 42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9" name="Text 43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connected portals, one live record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112264"/>
            <a:ext cx="603504" cy="60350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365" y="2281245"/>
            <a:ext cx="265542" cy="2655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30552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807208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booking, live token tracking, digital prescription viewer.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61104" y="1874520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2112264"/>
            <a:ext cx="603504" cy="60350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829" y="2281245"/>
            <a:ext cx="265542" cy="2655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21224" y="2130552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/ Reception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17136" y="2807208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tokens, emergency override, patient CRM &amp; follow-up reminders.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73568" y="1874520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2112264"/>
            <a:ext cx="603504" cy="60350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293" y="2281245"/>
            <a:ext cx="265542" cy="2655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33688" y="2130552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Console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0" y="2807208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next, complete, buffer delay, order labs, write prescriptions.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6384" y="4123944"/>
            <a:ext cx="603504" cy="60350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65" y="4292925"/>
            <a:ext cx="265542" cy="2655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142232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Portal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04672" y="4818888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test queue, upload results — flows straight back to the doctor.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61104" y="3886200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98848" y="4123944"/>
            <a:ext cx="603504" cy="60350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829" y="4292925"/>
            <a:ext cx="265542" cy="2655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21224" y="4142232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Portal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517136" y="4818888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digital prescriptions and marks medicines as dispensed.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73568" y="3886200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4123944"/>
            <a:ext cx="603504" cy="60350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293" y="4292925"/>
            <a:ext cx="265542" cy="2655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33688" y="4142232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229600" y="4818888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facilities, doctors, labs &amp; pharmacies; multi-tenant control.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QUEUE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intelligence behind the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93976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9" y="2242475"/>
            <a:ext cx="233355" cy="2333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0253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wait-time engine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63040" y="231343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= (position × doctor’s avg time) + buffer. Recomputed on every change.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953512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172968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39" y="3321467"/>
            <a:ext cx="233355" cy="2333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081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insertion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63040" y="339242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tokens move to the front — but never interrupt the patient already in the cabin.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032504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251960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9" y="4400459"/>
            <a:ext cx="233355" cy="2333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buffer control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63040" y="447141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adds +10 / +15 / +30 min; every waiting patient is re-notified instantly.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111496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330952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39" y="5479451"/>
            <a:ext cx="233355" cy="2333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5239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auto-reset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463040" y="55504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nightly job archives the day, clears queues and restarts the token series.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537960" y="187452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111C33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858000" y="21305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Sarah Jenkins  •  Cardiology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858000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10195560" y="2167128"/>
            <a:ext cx="256032" cy="256032"/>
          </a:xfrm>
          <a:prstGeom prst="ellipse">
            <a:avLst/>
          </a:prstGeom>
          <a:solidFill>
            <a:srgbClr val="111C33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7249" y="2238817"/>
            <a:ext cx="112654" cy="11265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515600" y="2148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812280" y="2788920"/>
            <a:ext cx="4526280" cy="603504"/>
          </a:xfrm>
          <a:prstGeom prst="roundRect">
            <a:avLst>
              <a:gd name="adj" fmla="val 9091"/>
            </a:avLst>
          </a:prstGeom>
          <a:solidFill>
            <a:srgbClr val="2A1420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976872" y="28803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T-118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8046720" y="28620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• EMERGENCY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0195560" y="286207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6812280" y="3483864"/>
            <a:ext cx="4526280" cy="603504"/>
          </a:xfrm>
          <a:prstGeom prst="roundRect">
            <a:avLst>
              <a:gd name="adj" fmla="val 9091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976872" y="357530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T-104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8046720" y="355701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• Regular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10195560" y="3557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min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6812280" y="4178808"/>
            <a:ext cx="4526280" cy="603504"/>
          </a:xfrm>
          <a:prstGeom prst="roundRect">
            <a:avLst>
              <a:gd name="adj" fmla="val 9091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6976872" y="427024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T-109</a:t>
            </a:r>
            <a:endParaRPr lang="en-US" sz="1700" dirty="0"/>
          </a:p>
        </p:txBody>
      </p:sp>
      <p:sp>
        <p:nvSpPr>
          <p:cNvPr id="40" name="Text 33"/>
          <p:cNvSpPr/>
          <p:nvPr/>
        </p:nvSpPr>
        <p:spPr>
          <a:xfrm>
            <a:off x="8046720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Palpitations • Regular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10195560" y="42519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min</a:t>
            </a:r>
            <a:endParaRPr lang="en-US" sz="1250" dirty="0"/>
          </a:p>
        </p:txBody>
      </p:sp>
      <p:sp>
        <p:nvSpPr>
          <p:cNvPr id="42" name="Shape 35"/>
          <p:cNvSpPr/>
          <p:nvPr/>
        </p:nvSpPr>
        <p:spPr>
          <a:xfrm>
            <a:off x="6812280" y="4873752"/>
            <a:ext cx="4526280" cy="603504"/>
          </a:xfrm>
          <a:prstGeom prst="roundRect">
            <a:avLst>
              <a:gd name="adj" fmla="val 9091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976872" y="49651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T-111</a:t>
            </a:r>
            <a:endParaRPr lang="en-US" sz="1700" dirty="0"/>
          </a:p>
        </p:txBody>
      </p:sp>
      <p:sp>
        <p:nvSpPr>
          <p:cNvPr id="44" name="Text 37"/>
          <p:cNvSpPr/>
          <p:nvPr/>
        </p:nvSpPr>
        <p:spPr>
          <a:xfrm>
            <a:off x="8046720" y="494690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check • Re-visit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10195560" y="494690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 min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6830568" y="56509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auto-jumps to top • wait times recalculated for everyone below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HOSPITAL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queues — a full smart-management layer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below is already built and live in the platform.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95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21408"/>
            <a:ext cx="512064" cy="51206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186" y="2264786"/>
            <a:ext cx="225308" cy="2253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206654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prescriptions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89888" y="237744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issue e-prescriptions patients open on a phone — no lost paper slips.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61104" y="1920240"/>
            <a:ext cx="35295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62272" y="2121408"/>
            <a:ext cx="512064" cy="51206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650" y="2264786"/>
            <a:ext cx="225308" cy="2253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2352" y="206654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lab workflow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102352" y="237744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test orders route to the lab; results return to the doctor digitally.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973568" y="1920240"/>
            <a:ext cx="35295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74736" y="2121408"/>
            <a:ext cx="512064" cy="51206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114" y="2264786"/>
            <a:ext cx="225308" cy="2253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14816" y="206654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dispensing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814816" y="237744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sees the prescription and marks each medicine as handed over.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273552"/>
            <a:ext cx="35295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9808" y="3474720"/>
            <a:ext cx="512064" cy="51206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86" y="3618098"/>
            <a:ext cx="225308" cy="2253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89888" y="341985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CRM &amp; history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389888" y="3730752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stores patients; doctors pull full past-visit history in the cabin.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261104" y="3273552"/>
            <a:ext cx="35295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62272" y="3474720"/>
            <a:ext cx="512064" cy="51206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650" y="3618098"/>
            <a:ext cx="225308" cy="2253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02352" y="341985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follow-up reminders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102352" y="3730752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re-visit reminders dispatched automatically via WhatsApp / push.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973568" y="3273552"/>
            <a:ext cx="35295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174736" y="3474720"/>
            <a:ext cx="512064" cy="51206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8114" y="3618098"/>
            <a:ext cx="225308" cy="2253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14816" y="341985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booking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814816" y="3730752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book &amp; get updates on WhatsApp — no app install needed.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48640" y="4626864"/>
            <a:ext cx="35295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49808" y="4828032"/>
            <a:ext cx="512064" cy="51206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186" y="4971410"/>
            <a:ext cx="225308" cy="22530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389888" y="47731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Web-push alerts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1389888" y="5084064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“You’re next” notifications reach the patient even with the tab closed.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4261104" y="4626864"/>
            <a:ext cx="35295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4462272" y="4828032"/>
            <a:ext cx="512064" cy="51206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5650" y="4971410"/>
            <a:ext cx="225308" cy="2253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102352" y="47731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TV display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5102352" y="5084064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Waiting-area screens show now-serving tokens, like an airport board.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7973568" y="4626864"/>
            <a:ext cx="352958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8174736" y="4828032"/>
            <a:ext cx="512064" cy="512064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8114" y="4971410"/>
            <a:ext cx="225308" cy="22530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814816" y="47731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Multi-facility tenancy</a:t>
            </a:r>
            <a:endParaRPr lang="en-US" sz="1300" dirty="0"/>
          </a:p>
        </p:txBody>
      </p:sp>
      <p:sp>
        <p:nvSpPr>
          <p:cNvPr id="49" name="Text 38"/>
          <p:cNvSpPr/>
          <p:nvPr/>
        </p:nvSpPr>
        <p:spPr>
          <a:xfrm>
            <a:off x="8814816" y="5084064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runs many hospitals, clinics, labs &amp; pharmacies in isolation.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Next-gen smart-hospital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platform is headed next — planned, not yet shipped.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203704"/>
            <a:ext cx="585216" cy="585216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244" y="2367564"/>
            <a:ext cx="257495" cy="2574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2199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triage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2898648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the right department &amp; urgency level from the patient’s described symptoms.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4256" y="196596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203704"/>
            <a:ext cx="585216" cy="585216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860" y="2367564"/>
            <a:ext cx="257495" cy="2574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94376" y="222199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&amp; ward management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90288" y="2898648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occupancy of beds, ICU and wards with admission / discharge tracking.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19872" y="196596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57616" y="2203704"/>
            <a:ext cx="585216" cy="585216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476" y="2367564"/>
            <a:ext cx="257495" cy="2574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222199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inventory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75904" y="2898648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stock deduction on dispense with low-stock and expiry alerts.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922776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86384" y="4160520"/>
            <a:ext cx="585216" cy="585216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44" y="4324380"/>
            <a:ext cx="257495" cy="2574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1788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insurance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04672" y="4855464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invoicing, cashless insurance claims and payment records.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34256" y="3922776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0" y="4160520"/>
            <a:ext cx="585216" cy="585216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5860" y="4324380"/>
            <a:ext cx="257495" cy="25749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94376" y="41788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90288" y="4855464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Footfall, average wait, peak hours &amp; doctor load for administrators.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19872" y="3922776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57616" y="4160520"/>
            <a:ext cx="585216" cy="585216"/>
          </a:xfrm>
          <a:prstGeom prst="ellipse">
            <a:avLst/>
          </a:prstGeom>
          <a:solidFill>
            <a:srgbClr val="1D2E4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1476" y="4324380"/>
            <a:ext cx="257495" cy="25749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79992" y="41788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&amp; referrals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75904" y="4855464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dispatch and inter-facility referral coordination.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trust with patient data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112264"/>
            <a:ext cx="585216" cy="585216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244" y="2276124"/>
            <a:ext cx="257495" cy="2574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3055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auth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0720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 and signed tokens with strict role-based route guards.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61104" y="1874520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2112264"/>
            <a:ext cx="585216" cy="585216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708" y="2276124"/>
            <a:ext cx="257495" cy="2574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21224" y="213055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/ abuse throttle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17136" y="280720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rate limiting (proxy-aware) blocks floods while normal use stays smooth.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73568" y="1874520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2112264"/>
            <a:ext cx="585216" cy="585216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172" y="2276124"/>
            <a:ext cx="257495" cy="2574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33688" y="213055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hardening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0" y="280720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NoSQL-sanitize, XSS-clean &amp; HPP protect every request.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6384" y="4123944"/>
            <a:ext cx="585216" cy="585216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44" y="4287804"/>
            <a:ext cx="257495" cy="2574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14223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481888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facility’s data is scoped — one hospital can never see another’s.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61104" y="3886200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98848" y="4123944"/>
            <a:ext cx="585216" cy="585216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708" y="4287804"/>
            <a:ext cx="257495" cy="25749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21224" y="414223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data hygiene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17136" y="481888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archival keeps the live database lean and fast.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73568" y="3886200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4D2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4123944"/>
            <a:ext cx="585216" cy="585216"/>
          </a:xfrm>
          <a:prstGeom prst="ellipse">
            <a:avLst/>
          </a:prstGeom>
          <a:solidFill>
            <a:srgbClr val="ECFDF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172" y="4287804"/>
            <a:ext cx="257495" cy="25749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33688" y="414223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29600" y="481888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2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health checks &amp; a mock-DB mode keep demos and uptime resilient.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CareSync vs. after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85232" cy="3108960"/>
          </a:xfrm>
          <a:prstGeom prst="roundRect">
            <a:avLst>
              <a:gd name="adj" fmla="val 2941"/>
            </a:avLst>
          </a:prstGeom>
          <a:solidFill>
            <a:srgbClr val="16233D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03120"/>
            <a:ext cx="548640" cy="548640"/>
          </a:xfrm>
          <a:prstGeom prst="ellipse">
            <a:avLst/>
          </a:prstGeom>
          <a:solidFill>
            <a:srgbClr val="2A14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22567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214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310896" cy="310896"/>
          </a:xfrm>
          <a:prstGeom prst="ellipse">
            <a:avLst/>
          </a:prstGeom>
          <a:solidFill>
            <a:srgbClr val="2A142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51" y="2967411"/>
            <a:ext cx="136794" cy="1367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852928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in crowded halls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14400" y="3282696"/>
            <a:ext cx="310896" cy="310896"/>
          </a:xfrm>
          <a:prstGeom prst="ellipse">
            <a:avLst/>
          </a:prstGeom>
          <a:solidFill>
            <a:srgbClr val="2A142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51" y="3369747"/>
            <a:ext cx="136794" cy="1367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55264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tokens &amp; manual registers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914400" y="3685032"/>
            <a:ext cx="310896" cy="310896"/>
          </a:xfrm>
          <a:prstGeom prst="ellipse">
            <a:avLst/>
          </a:prstGeom>
          <a:solidFill>
            <a:srgbClr val="2A1420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451" y="3772083"/>
            <a:ext cx="136794" cy="13679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657600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 stuck in the queue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2A1420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451" y="4174419"/>
            <a:ext cx="136794" cy="13679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4059936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pharmacy on paper hand-offs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914400" y="4489704"/>
            <a:ext cx="310896" cy="310896"/>
          </a:xfrm>
          <a:prstGeom prst="ellipse">
            <a:avLst/>
          </a:prstGeom>
          <a:solidFill>
            <a:srgbClr val="2A1420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451" y="4576755"/>
            <a:ext cx="136794" cy="13679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71600" y="4462272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on wait times or load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355080" y="1828800"/>
            <a:ext cx="5285232" cy="3108960"/>
          </a:xfrm>
          <a:prstGeom prst="roundRect">
            <a:avLst>
              <a:gd name="adj" fmla="val 2941"/>
            </a:avLst>
          </a:prstGeom>
          <a:solidFill>
            <a:srgbClr val="1623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6647688" y="2103120"/>
            <a:ext cx="548640" cy="548640"/>
          </a:xfrm>
          <a:prstGeom prst="ellipse">
            <a:avLst/>
          </a:prstGeom>
          <a:solidFill>
            <a:srgbClr val="0E2A26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1307" y="2256739"/>
            <a:ext cx="241402" cy="24140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315200" y="21214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2100" dirty="0"/>
          </a:p>
        </p:txBody>
      </p:sp>
      <p:sp>
        <p:nvSpPr>
          <p:cNvPr id="27" name="Shape 18"/>
          <p:cNvSpPr/>
          <p:nvPr/>
        </p:nvSpPr>
        <p:spPr>
          <a:xfrm>
            <a:off x="6720840" y="2880360"/>
            <a:ext cx="310896" cy="310896"/>
          </a:xfrm>
          <a:prstGeom prst="ellipse">
            <a:avLst/>
          </a:prstGeom>
          <a:solidFill>
            <a:srgbClr val="0E2A26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7891" y="2967411"/>
            <a:ext cx="136794" cy="13679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178040" y="2852928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from anywhere, walk in on time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720840" y="3282696"/>
            <a:ext cx="310896" cy="310896"/>
          </a:xfrm>
          <a:prstGeom prst="ellipse">
            <a:avLst/>
          </a:prstGeom>
          <a:solidFill>
            <a:srgbClr val="0E2A26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7891" y="3369747"/>
            <a:ext cx="136794" cy="13679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178040" y="3255264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digital tokens, zero paper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720840" y="3685032"/>
            <a:ext cx="310896" cy="310896"/>
          </a:xfrm>
          <a:prstGeom prst="ellipse">
            <a:avLst/>
          </a:prstGeom>
          <a:solidFill>
            <a:srgbClr val="0E2A26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7891" y="3772083"/>
            <a:ext cx="136794" cy="136794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178040" y="3657600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auto-priority for the critical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720840" y="4087368"/>
            <a:ext cx="310896" cy="310896"/>
          </a:xfrm>
          <a:prstGeom prst="ellipse">
            <a:avLst/>
          </a:prstGeom>
          <a:solidFill>
            <a:srgbClr val="0E2A2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7891" y="4174419"/>
            <a:ext cx="136794" cy="136794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7178040" y="4059936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Doctor–lab–pharmacy fully connected</a:t>
            </a:r>
            <a:endParaRPr lang="en-US" sz="1300" dirty="0"/>
          </a:p>
        </p:txBody>
      </p:sp>
      <p:sp>
        <p:nvSpPr>
          <p:cNvPr id="39" name="Shape 26"/>
          <p:cNvSpPr/>
          <p:nvPr/>
        </p:nvSpPr>
        <p:spPr>
          <a:xfrm>
            <a:off x="6720840" y="4489704"/>
            <a:ext cx="310896" cy="310896"/>
          </a:xfrm>
          <a:prstGeom prst="ellipse">
            <a:avLst/>
          </a:prstGeom>
          <a:solidFill>
            <a:srgbClr val="0E2A26"/>
          </a:solidFill>
          <a:ln/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7891" y="4576755"/>
            <a:ext cx="136794" cy="136794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7178040" y="4462272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for administrators</a:t>
            </a:r>
            <a:endParaRPr lang="en-US" sz="1300" dirty="0"/>
          </a:p>
        </p:txBody>
      </p:sp>
      <p:sp>
        <p:nvSpPr>
          <p:cNvPr id="42" name="Text 28"/>
          <p:cNvSpPr/>
          <p:nvPr/>
        </p:nvSpPr>
        <p:spPr>
          <a:xfrm>
            <a:off x="548640" y="5212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~70%  </a:t>
            </a:r>
            <a:pPr algn="ctr" indent="0" marL="0"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crowding</a:t>
            </a:r>
            <a:endParaRPr lang="en-US" sz="2200" dirty="0"/>
          </a:p>
        </p:txBody>
      </p:sp>
      <p:sp>
        <p:nvSpPr>
          <p:cNvPr id="43" name="Text 29"/>
          <p:cNvSpPr/>
          <p:nvPr/>
        </p:nvSpPr>
        <p:spPr>
          <a:xfrm>
            <a:off x="3383280" y="5212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 </a:t>
            </a:r>
            <a:pPr algn="ctr" indent="0" marL="0"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tokens</a:t>
            </a:r>
            <a:endParaRPr lang="en-US" sz="2200" dirty="0"/>
          </a:p>
        </p:txBody>
      </p:sp>
      <p:sp>
        <p:nvSpPr>
          <p:cNvPr id="44" name="Text 30"/>
          <p:cNvSpPr/>
          <p:nvPr/>
        </p:nvSpPr>
        <p:spPr>
          <a:xfrm>
            <a:off x="6217920" y="5212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&lt;1s  </a:t>
            </a:r>
            <a:pPr algn="ctr" indent="0" marL="0"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sync</a:t>
            </a:r>
            <a:endParaRPr lang="en-US" sz="2200" dirty="0"/>
          </a:p>
        </p:txBody>
      </p:sp>
      <p:sp>
        <p:nvSpPr>
          <p:cNvPr id="45" name="Text 31"/>
          <p:cNvSpPr/>
          <p:nvPr/>
        </p:nvSpPr>
        <p:spPr>
          <a:xfrm>
            <a:off x="9052560" y="5212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</a:t>
            </a:r>
            <a:pPr algn="ctr" indent="0" marL="0">
              <a:buNone/>
            </a:pPr>
            <a:r>
              <a:rPr lang="en-US" sz="12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connected</a:t>
            </a:r>
            <a:endParaRPr lang="en-US" sz="2200" dirty="0"/>
          </a:p>
        </p:txBody>
      </p:sp>
      <p:sp>
        <p:nvSpPr>
          <p:cNvPr id="46" name="Text 32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7" name="Text 33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943600" cy="5943600"/>
          </a:xfrm>
          <a:prstGeom prst="ellipse">
            <a:avLst/>
          </a:prstGeom>
          <a:solidFill>
            <a:srgbClr val="16233D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377440"/>
            <a:ext cx="5486400" cy="5486400"/>
          </a:xfrm>
          <a:prstGeom prst="ellipse">
            <a:avLst/>
          </a:prstGeom>
          <a:solidFill>
            <a:srgbClr val="111C3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100766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83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 turns the hospital queue into a calm, connected, data-driven experience —</a:t>
            </a:r>
            <a:endParaRPr lang="en-US" sz="15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3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patients, doctors and administrators alike.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4160520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160520"/>
            <a:ext cx="14447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78024" y="4160520"/>
            <a:ext cx="1924812" cy="420624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78024" y="4160520"/>
            <a:ext cx="19248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67428" y="4160520"/>
            <a:ext cx="2020824" cy="420624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7428" y="4160520"/>
            <a:ext cx="20208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52844" y="4160520"/>
            <a:ext cx="1156716" cy="420624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52844" y="4160520"/>
            <a:ext cx="11567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74152" y="4160520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74152" y="4160520"/>
            <a:ext cx="14447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683496" y="4160520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83496" y="4160520"/>
            <a:ext cx="14447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68680" y="4709160"/>
            <a:ext cx="1060704" cy="420624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1D2E4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4709160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Web-Push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" y="5806440"/>
            <a:ext cx="603504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1097280" y="58064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hospital-automation-wine.vercel.app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CareSync — Smart Hospital Queue &amp; Management System</dc:title>
  <dc:subject>PptxGenJS Presentation</dc:subject>
  <dc:creator>CareSync</dc:creator>
  <cp:lastModifiedBy>CareSync</cp:lastModifiedBy>
  <cp:revision>1</cp:revision>
  <dcterms:created xsi:type="dcterms:W3CDTF">2026-07-23T17:01:58Z</dcterms:created>
  <dcterms:modified xsi:type="dcterms:W3CDTF">2026-07-23T17:01:58Z</dcterms:modified>
</cp:coreProperties>
</file>